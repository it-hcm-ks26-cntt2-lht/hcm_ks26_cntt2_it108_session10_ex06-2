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(tỷ đồng)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430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Năm 1</c:v>
                  </c:pt>
                  <c:pt idx="1">
                    <c:v>Năm 2</c:v>
                  </c:pt>
                  <c:pt idx="2">
                    <c:v>Năm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3.5</c:v>
                </c:pt>
                <c:pt idx="2">
                  <c:v>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2000" u="none">
                  <a:solidFill>
                    <a:srgbClr val="1430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A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nhà đầu tư. Trong 20 phút, chúng tôi trình bày vì sao Smart-Home là cách mua bán nhà đất minh bạch hơn. Dự kiến 2 phút mở đầu, 14 phút nội dung, 4 phút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người mua và người bán đang chịu chung một vấn đề niềm tin. Nêu một câu chuyện thực tế của nhóm (khoảng 2 phút).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một nền tảng giải quyết cả giá và trải nghiệm sống. Demo nhanh màn hình ứng dụng (khoảng 2 phút).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bắt đầu nhỏ, mở rộng có lộ trình. Bổ sung số liệu thị trường có nguồn trước khi thuyết trình.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doanh thu gắn với kết quả. Tỷ lệ cụ thể là giả định, sẽ chốt sau khảo sát đối tác.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tăng trưởng rõ ràng. Số liệu là giả định minh họa của nhóm, cần thay bằng mô hình tài chính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lộ trình thực thi thực tế. Mốc và số lượng là kế hoạch, điều chỉnh theo vốn huy động.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nhóm có đủ kỹ năng. Thay tên và vai trò bằng thành viên thật của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Kêu gọi hành động: mời nhà đầu tư cùng đồng hành. Chuẩn bị trả lời về định giá, lộ trình và rủi 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</a:t>
            </a:r>
            <a:endParaRPr lang="en-US" sz="6600" dirty="0"/>
          </a:p>
        </p:txBody>
      </p:sp>
      <p:sp>
        <p:nvSpPr>
          <p:cNvPr id="4" name="Subtitle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F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tạo không gian sống thông minh</a:t>
            </a:r>
            <a:endParaRPr lang="en-US" sz="3000" dirty="0"/>
          </a:p>
        </p:txBody>
      </p:sp>
      <p:sp>
        <p:nvSpPr>
          <p:cNvPr id="5" name="Tagline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– 20 phút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nhà đất vẫn thiếu minh bạch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Card line 1"/>
          <p:cNvSpPr/>
          <p:nvPr/>
        </p:nvSpPr>
        <p:spPr>
          <a:xfrm>
            <a:off x="91440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7" name="Card head 1"/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mờ đục</a:t>
            </a:r>
            <a:endParaRPr lang="en-US" sz="2800" dirty="0"/>
          </a:p>
        </p:txBody>
      </p:sp>
      <p:sp>
        <p:nvSpPr>
          <p:cNvPr id="8" name="Card body 1"/>
          <p:cNvSpPr txBox="1"/>
          <p:nvPr/>
        </p:nvSpPr>
        <p:spPr>
          <a:xfrm>
            <a:off x="91440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mua khó biết giá thị trường thật của một tài sản.</a:t>
            </a:r>
            <a:endParaRPr lang="en-US" sz="2000" dirty="0"/>
          </a:p>
        </p:txBody>
      </p:sp>
      <p:sp>
        <p:nvSpPr>
          <p:cNvPr id="9" name="Card line 2"/>
          <p:cNvSpPr/>
          <p:nvPr/>
        </p:nvSpPr>
        <p:spPr>
          <a:xfrm>
            <a:off x="4526280" y="2926080"/>
            <a:ext cx="3108960" cy="73152"/>
          </a:xfrm>
          <a:prstGeom prst="rect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10" name="Card head 2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lượng dài</a:t>
            </a:r>
            <a:endParaRPr lang="en-US" sz="2800" dirty="0"/>
          </a:p>
        </p:txBody>
      </p:sp>
      <p:sp>
        <p:nvSpPr>
          <p:cNvPr id="11" name="Card body 2"/>
          <p:cNvSpPr txBox="1"/>
          <p:nvPr/>
        </p:nvSpPr>
        <p:spPr>
          <a:xfrm>
            <a:off x="452628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giao dịch kéo dài nhiều tuần, tốn công cả hai phía.</a:t>
            </a:r>
            <a:endParaRPr lang="en-US" sz="2000" dirty="0"/>
          </a:p>
        </p:txBody>
      </p:sp>
      <p:sp>
        <p:nvSpPr>
          <p:cNvPr id="12" name="Card line 3"/>
          <p:cNvSpPr/>
          <p:nvPr/>
        </p:nvSpPr>
        <p:spPr>
          <a:xfrm>
            <a:off x="813816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3" name="Card head 3"/>
          <p:cNvSpPr txBox="1"/>
          <p:nvPr/>
        </p:nvSpPr>
        <p:spPr>
          <a:xfrm>
            <a:off x="813816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kiểm chứng</a:t>
            </a:r>
            <a:endParaRPr lang="en-US" sz="2800" dirty="0"/>
          </a:p>
        </p:txBody>
      </p:sp>
      <p:sp>
        <p:nvSpPr>
          <p:cNvPr id="14" name="Card body 3"/>
          <p:cNvSpPr txBox="1"/>
          <p:nvPr/>
        </p:nvSpPr>
        <p:spPr>
          <a:xfrm>
            <a:off x="813816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tài sản và nhà thiếu dữ liệu tập trung, rõ ràng.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 giá trực tuyến, nhà sẵn thông minh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Card line 1"/>
          <p:cNvSpPr/>
          <p:nvPr/>
        </p:nvSpPr>
        <p:spPr>
          <a:xfrm>
            <a:off x="91440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7" name="Card head 1"/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công khai</a:t>
            </a:r>
            <a:endParaRPr lang="en-US" sz="2800" dirty="0"/>
          </a:p>
        </p:txBody>
      </p:sp>
      <p:sp>
        <p:nvSpPr>
          <p:cNvPr id="8" name="Card body 1"/>
          <p:cNvSpPr txBox="1"/>
          <p:nvPr/>
        </p:nvSpPr>
        <p:spPr>
          <a:xfrm>
            <a:off x="91440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đấu giá thời gian thực, mọi lượt trả giá đều được ghi lại.</a:t>
            </a:r>
            <a:endParaRPr lang="en-US" sz="2000" dirty="0"/>
          </a:p>
        </p:txBody>
      </p:sp>
      <p:sp>
        <p:nvSpPr>
          <p:cNvPr id="9" name="Card line 2"/>
          <p:cNvSpPr/>
          <p:nvPr/>
        </p:nvSpPr>
        <p:spPr>
          <a:xfrm>
            <a:off x="4526280" y="2926080"/>
            <a:ext cx="3108960" cy="73152"/>
          </a:xfrm>
          <a:prstGeom prst="rect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10" name="Card head 2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thông minh</a:t>
            </a:r>
            <a:endParaRPr lang="en-US" sz="2800" dirty="0"/>
          </a:p>
        </p:txBody>
      </p:sp>
      <p:sp>
        <p:nvSpPr>
          <p:cNvPr id="11" name="Card body 2"/>
          <p:cNvSpPr txBox="1"/>
          <p:nvPr/>
        </p:nvSpPr>
        <p:spPr>
          <a:xfrm>
            <a:off x="452628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Khóa, camera, điều hòa, rèm điều khiển từ xa bằng điện thoại.</a:t>
            </a:r>
            <a:endParaRPr lang="en-US" sz="2000" dirty="0"/>
          </a:p>
        </p:txBody>
      </p:sp>
      <p:sp>
        <p:nvSpPr>
          <p:cNvPr id="12" name="Card line 3"/>
          <p:cNvSpPr/>
          <p:nvPr/>
        </p:nvSpPr>
        <p:spPr>
          <a:xfrm>
            <a:off x="813816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3" name="Card head 3"/>
          <p:cNvSpPr txBox="1"/>
          <p:nvPr/>
        </p:nvSpPr>
        <p:spPr>
          <a:xfrm>
            <a:off x="813816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đồng số</a:t>
            </a:r>
            <a:endParaRPr lang="en-US" sz="2800" dirty="0"/>
          </a:p>
        </p:txBody>
      </p:sp>
      <p:sp>
        <p:nvSpPr>
          <p:cNvPr id="14" name="Card body 3"/>
          <p:cNvSpPr txBox="1"/>
          <p:nvPr/>
        </p:nvSpPr>
        <p:spPr>
          <a:xfrm>
            <a:off x="813816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người thắng và ký điện tử trên cùng một nền tảng.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bắt đầu từ phân khúc 2–20 tỷ ở TP.HCM và Bình Dương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Market outer"/>
          <p:cNvSpPr/>
          <p:nvPr/>
        </p:nvSpPr>
        <p:spPr>
          <a:xfrm>
            <a:off x="1097280" y="2286000"/>
            <a:ext cx="3840480" cy="3840480"/>
          </a:xfrm>
          <a:prstGeom prst="ellipse">
            <a:avLst/>
          </a:prstGeom>
          <a:solidFill>
            <a:srgbClr val="EEF6F1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7" name="Market middle"/>
          <p:cNvSpPr/>
          <p:nvPr/>
        </p:nvSpPr>
        <p:spPr>
          <a:xfrm>
            <a:off x="1737360" y="3200400"/>
            <a:ext cx="2560320" cy="2560320"/>
          </a:xfrm>
          <a:prstGeom prst="ellipse">
            <a:avLst/>
          </a:prstGeom>
          <a:solidFill>
            <a:srgbClr val="CDE8D8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8" name="Market inner"/>
          <p:cNvSpPr/>
          <p:nvPr/>
        </p:nvSpPr>
        <p:spPr>
          <a:xfrm>
            <a:off x="2377440" y="4206240"/>
            <a:ext cx="1280160" cy="128016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9" name="Market label 1"/>
          <p:cNvSpPr txBox="1"/>
          <p:nvPr/>
        </p:nvSpPr>
        <p:spPr>
          <a:xfrm>
            <a:off x="6035040" y="2468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thị trường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động sản Việt Nam</a:t>
            </a:r>
            <a:endParaRPr lang="en-US" sz="2400" dirty="0"/>
          </a:p>
        </p:txBody>
      </p:sp>
      <p:sp>
        <p:nvSpPr>
          <p:cNvPr id="10" name="Market label 2"/>
          <p:cNvSpPr txBox="1"/>
          <p:nvPr/>
        </p:nvSpPr>
        <p:spPr>
          <a:xfrm>
            <a:off x="6035040" y="3657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khúc phục vụ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Đô thị lớn, nhà 2–20 tỷ</a:t>
            </a:r>
            <a:endParaRPr lang="en-US" sz="2400" dirty="0"/>
          </a:p>
        </p:txBody>
      </p:sp>
      <p:sp>
        <p:nvSpPr>
          <p:cNvPr id="11" name="Market label 3"/>
          <p:cNvSpPr txBox="1"/>
          <p:nvPr/>
        </p:nvSpPr>
        <p:spPr>
          <a:xfrm>
            <a:off x="6035040" y="4846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năm 1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TP.HCM và Bình Dương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thu phí trên mỗi giao dịch thành công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Card line 1"/>
          <p:cNvSpPr/>
          <p:nvPr/>
        </p:nvSpPr>
        <p:spPr>
          <a:xfrm>
            <a:off x="91440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7" name="Card head 1"/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giao dịch</a:t>
            </a:r>
            <a:endParaRPr lang="en-US" sz="2800" dirty="0"/>
          </a:p>
        </p:txBody>
      </p:sp>
      <p:sp>
        <p:nvSpPr>
          <p:cNvPr id="8" name="Card body 1"/>
          <p:cNvSpPr txBox="1"/>
          <p:nvPr/>
        </p:nvSpPr>
        <p:spPr>
          <a:xfrm>
            <a:off x="91440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một tỷ lệ nhỏ trên giá chốt của phiên đấu giá.</a:t>
            </a:r>
            <a:endParaRPr lang="en-US" sz="2000" dirty="0"/>
          </a:p>
        </p:txBody>
      </p:sp>
      <p:sp>
        <p:nvSpPr>
          <p:cNvPr id="9" name="Card line 2"/>
          <p:cNvSpPr/>
          <p:nvPr/>
        </p:nvSpPr>
        <p:spPr>
          <a:xfrm>
            <a:off x="4526280" y="2926080"/>
            <a:ext cx="3108960" cy="73152"/>
          </a:xfrm>
          <a:prstGeom prst="rect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10" name="Card head 2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môi giới</a:t>
            </a:r>
            <a:endParaRPr lang="en-US" sz="2800" dirty="0"/>
          </a:p>
        </p:txBody>
      </p:sp>
      <p:sp>
        <p:nvSpPr>
          <p:cNvPr id="11" name="Card body 2"/>
          <p:cNvSpPr txBox="1"/>
          <p:nvPr/>
        </p:nvSpPr>
        <p:spPr>
          <a:xfrm>
            <a:off x="452628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 hoa hồng 1,5–2% theo mã môi giới.</a:t>
            </a:r>
            <a:endParaRPr lang="en-US" sz="2000" dirty="0"/>
          </a:p>
        </p:txBody>
      </p:sp>
      <p:sp>
        <p:nvSpPr>
          <p:cNvPr id="12" name="Card line 3"/>
          <p:cNvSpPr/>
          <p:nvPr/>
        </p:nvSpPr>
        <p:spPr>
          <a:xfrm>
            <a:off x="813816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3" name="Card head 3"/>
          <p:cNvSpPr txBox="1"/>
          <p:nvPr/>
        </p:nvSpPr>
        <p:spPr>
          <a:xfrm>
            <a:off x="813816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nhà thông minh</a:t>
            </a:r>
            <a:endParaRPr lang="en-US" sz="2800" dirty="0"/>
          </a:p>
        </p:txBody>
      </p:sp>
      <p:sp>
        <p:nvSpPr>
          <p:cNvPr id="14" name="Card body 3"/>
          <p:cNvSpPr txBox="1"/>
          <p:nvPr/>
        </p:nvSpPr>
        <p:spPr>
          <a:xfrm>
            <a:off x="813816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và lắp đặt thiết bị kèm tài sản.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dự kiến đạt 9 tỷ đồng vào năm thứ 3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20116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note"/>
          <p:cNvSpPr txBox="1"/>
          <p:nvPr/>
        </p:nvSpPr>
        <p:spPr>
          <a:xfrm>
            <a:off x="841248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giả định minh họa, đơn vị: tỷ đồng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mở rộng theo ba giai đoạn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Card line 1"/>
          <p:cNvSpPr/>
          <p:nvPr/>
        </p:nvSpPr>
        <p:spPr>
          <a:xfrm>
            <a:off x="91440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7" name="Card head 1"/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Q4/2026</a:t>
            </a:r>
            <a:endParaRPr lang="en-US" sz="2800" dirty="0"/>
          </a:p>
        </p:txBody>
      </p:sp>
      <p:sp>
        <p:nvSpPr>
          <p:cNvPr id="8" name="Card body 1"/>
          <p:cNvSpPr txBox="1"/>
          <p:nvPr/>
        </p:nvSpPr>
        <p:spPr>
          <a:xfrm>
            <a:off x="91440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bản thử nghiệm với khoảng 20 tài sản.</a:t>
            </a:r>
            <a:endParaRPr lang="en-US" sz="2000" dirty="0"/>
          </a:p>
        </p:txBody>
      </p:sp>
      <p:sp>
        <p:nvSpPr>
          <p:cNvPr id="9" name="Card line 2"/>
          <p:cNvSpPr/>
          <p:nvPr/>
        </p:nvSpPr>
        <p:spPr>
          <a:xfrm>
            <a:off x="4526280" y="2926080"/>
            <a:ext cx="3108960" cy="73152"/>
          </a:xfrm>
          <a:prstGeom prst="rect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10" name="Card head 2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800" dirty="0"/>
          </a:p>
        </p:txBody>
      </p:sp>
      <p:sp>
        <p:nvSpPr>
          <p:cNvPr id="11" name="Card body 2"/>
          <p:cNvSpPr txBox="1"/>
          <p:nvPr/>
        </p:nvSpPr>
        <p:spPr>
          <a:xfrm>
            <a:off x="452628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TP.HCM và Bình Dương, khoảng 200 tài sản.</a:t>
            </a:r>
            <a:endParaRPr lang="en-US" sz="2000" dirty="0"/>
          </a:p>
        </p:txBody>
      </p:sp>
      <p:sp>
        <p:nvSpPr>
          <p:cNvPr id="12" name="Card line 3"/>
          <p:cNvSpPr/>
          <p:nvPr/>
        </p:nvSpPr>
        <p:spPr>
          <a:xfrm>
            <a:off x="8138160" y="2926080"/>
            <a:ext cx="310896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3" name="Card head 3"/>
          <p:cNvSpPr txBox="1"/>
          <p:nvPr/>
        </p:nvSpPr>
        <p:spPr>
          <a:xfrm>
            <a:off x="813816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800" dirty="0"/>
          </a:p>
        </p:txBody>
      </p:sp>
      <p:sp>
        <p:nvSpPr>
          <p:cNvPr id="14" name="Card body 3"/>
          <p:cNvSpPr txBox="1"/>
          <p:nvPr/>
        </p:nvSpPr>
        <p:spPr>
          <a:xfrm>
            <a:off x="8138160" y="4480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các đô thị lớn toàn quốc.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ngũ đủ bốn năng lực then chốt</a:t>
            </a:r>
            <a:endParaRPr lang="en-US" sz="3600" dirty="0"/>
          </a:p>
        </p:txBody>
      </p:sp>
      <p:sp>
        <p:nvSpPr>
          <p:cNvPr id="4" name="Slide number"/>
          <p:cNvSpPr txBox="1"/>
          <p:nvPr/>
        </p:nvSpPr>
        <p:spPr>
          <a:xfrm>
            <a:off x="11155680" y="6217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Avatar 1"/>
          <p:cNvSpPr/>
          <p:nvPr/>
        </p:nvSpPr>
        <p:spPr>
          <a:xfrm>
            <a:off x="1371600" y="2468880"/>
            <a:ext cx="1280160" cy="128016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Role 1"/>
          <p:cNvSpPr txBox="1"/>
          <p:nvPr/>
        </p:nvSpPr>
        <p:spPr>
          <a:xfrm>
            <a:off x="91440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</a:t>
            </a:r>
            <a:endParaRPr lang="en-US" sz="2400" dirty="0"/>
          </a:p>
        </p:txBody>
      </p:sp>
      <p:sp>
        <p:nvSpPr>
          <p:cNvPr id="8" name="Role desc 1"/>
          <p:cNvSpPr txBox="1"/>
          <p:nvPr/>
        </p:nvSpPr>
        <p:spPr>
          <a:xfrm>
            <a:off x="91440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trải nghiệm và điều hành</a:t>
            </a:r>
            <a:endParaRPr lang="en-US" sz="1800" dirty="0"/>
          </a:p>
        </p:txBody>
      </p:sp>
      <p:sp>
        <p:nvSpPr>
          <p:cNvPr id="9" name="Avatar 2"/>
          <p:cNvSpPr/>
          <p:nvPr/>
        </p:nvSpPr>
        <p:spPr>
          <a:xfrm>
            <a:off x="4023360" y="2468880"/>
            <a:ext cx="1280160" cy="128016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Role 2"/>
          <p:cNvSpPr txBox="1"/>
          <p:nvPr/>
        </p:nvSpPr>
        <p:spPr>
          <a:xfrm>
            <a:off x="35661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</a:t>
            </a:r>
            <a:endParaRPr lang="en-US" sz="2400" dirty="0"/>
          </a:p>
        </p:txBody>
      </p:sp>
      <p:sp>
        <p:nvSpPr>
          <p:cNvPr id="11" name="Role desc 2"/>
          <p:cNvSpPr txBox="1"/>
          <p:nvPr/>
        </p:nvSpPr>
        <p:spPr>
          <a:xfrm>
            <a:off x="356616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đấu giá và IoT</a:t>
            </a:r>
            <a:endParaRPr lang="en-US" sz="1800" dirty="0"/>
          </a:p>
        </p:txBody>
      </p:sp>
      <p:sp>
        <p:nvSpPr>
          <p:cNvPr id="12" name="Avatar 3"/>
          <p:cNvSpPr/>
          <p:nvPr/>
        </p:nvSpPr>
        <p:spPr>
          <a:xfrm>
            <a:off x="6675120" y="2468880"/>
            <a:ext cx="1280160" cy="128016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Role 3"/>
          <p:cNvSpPr txBox="1"/>
          <p:nvPr/>
        </p:nvSpPr>
        <p:spPr>
          <a:xfrm>
            <a:off x="621792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doanh</a:t>
            </a:r>
            <a:endParaRPr lang="en-US" sz="2400" dirty="0"/>
          </a:p>
        </p:txBody>
      </p:sp>
      <p:sp>
        <p:nvSpPr>
          <p:cNvPr id="14" name="Role desc 3"/>
          <p:cNvSpPr txBox="1"/>
          <p:nvPr/>
        </p:nvSpPr>
        <p:spPr>
          <a:xfrm>
            <a:off x="621792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 lưới môi giới, đối tác</a:t>
            </a:r>
            <a:endParaRPr lang="en-US" sz="1800" dirty="0"/>
          </a:p>
        </p:txBody>
      </p:sp>
      <p:sp>
        <p:nvSpPr>
          <p:cNvPr id="15" name="Avatar 4"/>
          <p:cNvSpPr/>
          <p:nvPr/>
        </p:nvSpPr>
        <p:spPr>
          <a:xfrm>
            <a:off x="9326880" y="2468880"/>
            <a:ext cx="1280160" cy="1280160"/>
          </a:xfrm>
          <a:prstGeom prst="ellipse">
            <a:avLst/>
          </a:prstGeom>
          <a:solidFill>
            <a:srgbClr val="E874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Role 4"/>
          <p:cNvSpPr txBox="1"/>
          <p:nvPr/>
        </p:nvSpPr>
        <p:spPr>
          <a:xfrm>
            <a:off x="886968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2400" dirty="0"/>
          </a:p>
        </p:txBody>
      </p:sp>
      <p:sp>
        <p:nvSpPr>
          <p:cNvPr id="17" name="Role desc 4"/>
          <p:cNvSpPr txBox="1"/>
          <p:nvPr/>
        </p:nvSpPr>
        <p:spPr>
          <a:xfrm>
            <a:off x="886968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hiệu và thu hút người dùng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1E"/>
          </a:solidFill>
          <a:ln w="12700">
            <a:solidFill>
              <a:srgbClr val="E8741E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gọi vốn 2 tỷ đồng để ra mắt thị trường</a:t>
            </a:r>
            <a:endParaRPr lang="en-US" sz="4000" dirty="0"/>
          </a:p>
        </p:txBody>
      </p:sp>
      <p:sp>
        <p:nvSpPr>
          <p:cNvPr id="4" name="Fund pct 1"/>
          <p:cNvSpPr txBox="1"/>
          <p:nvPr/>
        </p:nvSpPr>
        <p:spPr>
          <a:xfrm>
            <a:off x="91440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000" dirty="0"/>
          </a:p>
        </p:txBody>
      </p:sp>
      <p:sp>
        <p:nvSpPr>
          <p:cNvPr id="5" name="Fund label 1"/>
          <p:cNvSpPr txBox="1"/>
          <p:nvPr/>
        </p:nvSpPr>
        <p:spPr>
          <a:xfrm>
            <a:off x="91440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</a:t>
            </a:r>
            <a:endParaRPr lang="en-US" sz="2600" dirty="0"/>
          </a:p>
        </p:txBody>
      </p:sp>
      <p:sp>
        <p:nvSpPr>
          <p:cNvPr id="6" name="Fund pct 2"/>
          <p:cNvSpPr txBox="1"/>
          <p:nvPr/>
        </p:nvSpPr>
        <p:spPr>
          <a:xfrm>
            <a:off x="448056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A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6000" dirty="0"/>
          </a:p>
        </p:txBody>
      </p:sp>
      <p:sp>
        <p:nvSpPr>
          <p:cNvPr id="7" name="Fund label 2"/>
          <p:cNvSpPr txBox="1"/>
          <p:nvPr/>
        </p:nvSpPr>
        <p:spPr>
          <a:xfrm>
            <a:off x="448056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2600" dirty="0"/>
          </a:p>
        </p:txBody>
      </p:sp>
      <p:sp>
        <p:nvSpPr>
          <p:cNvPr id="8" name="Fund pct 3"/>
          <p:cNvSpPr txBox="1"/>
          <p:nvPr/>
        </p:nvSpPr>
        <p:spPr>
          <a:xfrm>
            <a:off x="804672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6000" dirty="0"/>
          </a:p>
        </p:txBody>
      </p:sp>
      <p:sp>
        <p:nvSpPr>
          <p:cNvPr id="9" name="Fund label 3"/>
          <p:cNvSpPr txBox="1"/>
          <p:nvPr/>
        </p:nvSpPr>
        <p:spPr>
          <a:xfrm>
            <a:off x="804672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</a:t>
            </a:r>
            <a:endParaRPr lang="en-US" sz="2600" dirty="0"/>
          </a:p>
        </p:txBody>
      </p:sp>
      <p:sp>
        <p:nvSpPr>
          <p:cNvPr id="10" name="Assumption note"/>
          <p:cNvSpPr txBox="1"/>
          <p:nvPr/>
        </p:nvSpPr>
        <p:spPr>
          <a:xfrm>
            <a:off x="9144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tiền và tỷ lệ là giả định, sẽ chốt cùng nhà đầu tư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Smart-Home Pitch Deck</dc:title>
  <dc:subject>PptxGenJS Presentation</dc:subject>
  <dc:creator>PptxGenJS</dc:creator>
  <cp:lastModifiedBy>PptxGenJS</cp:lastModifiedBy>
  <cp:revision>1</cp:revision>
  <dcterms:created xsi:type="dcterms:W3CDTF">2026-10-21T08:39:25Z</dcterms:created>
  <dcterms:modified xsi:type="dcterms:W3CDTF">2026-10-21T08:39:25Z</dcterms:modified>
</cp:coreProperties>
</file>